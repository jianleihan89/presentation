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379" r:id="rId5"/>
    <p:sldId id="503" r:id="rId6"/>
    <p:sldId id="504" r:id="rId7"/>
    <p:sldId id="505" r:id="rId8"/>
    <p:sldId id="506" r:id="rId9"/>
    <p:sldId id="512" r:id="rId10"/>
    <p:sldId id="507" r:id="rId11"/>
    <p:sldId id="510" r:id="rId12"/>
    <p:sldId id="511" r:id="rId13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3" userDrawn="1">
          <p15:clr>
            <a:srgbClr val="A4A3A4"/>
          </p15:clr>
        </p15:guide>
        <p15:guide id="2" pos="746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4DC"/>
    <a:srgbClr val="D6D2C4"/>
    <a:srgbClr val="A61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52" autoAdjust="0"/>
    <p:restoredTop sz="77778" autoAdjust="0"/>
  </p:normalViewPr>
  <p:slideViewPr>
    <p:cSldViewPr snapToGrid="0">
      <p:cViewPr varScale="1">
        <p:scale>
          <a:sx n="87" d="100"/>
          <a:sy n="87" d="100"/>
        </p:scale>
        <p:origin x="1568" y="184"/>
      </p:cViewPr>
      <p:guideLst>
        <p:guide orient="horz" pos="913"/>
        <p:guide pos="74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696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AC062A73-2E64-49D6-ABD8-1FCFA8272204}" type="datetimeFigureOut">
              <a:rPr lang="en-AU" smtClean="0"/>
              <a:t>20/8/2026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5780AC98-8E30-490D-A639-38DF0F70C2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4587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9700" y="768350"/>
            <a:ext cx="6819900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3470" indent="-2859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800" indent="-22876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1320" indent="-22876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8840" indent="-22876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6360" indent="-22876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3880" indent="-22876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31400" indent="-22876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8920" indent="-22876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9472900D-0A89-4768-BD93-5DAFC1128FF3}" type="slidenum">
              <a:rPr lang="en-US" smtClean="0">
                <a:latin typeface="Calibri" pitchFamily="34" charset="0"/>
              </a:rPr>
              <a:pPr eaLnBrk="1" hangingPunct="1"/>
              <a:t>1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0AC98-8E30-490D-A639-38DF0F70C274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9547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0AC98-8E30-490D-A639-38DF0F70C274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3187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0AC98-8E30-490D-A639-38DF0F70C27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344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77980D-187B-4CD7-B16A-1E030E75F9A2}"/>
              </a:ext>
            </a:extLst>
          </p:cNvPr>
          <p:cNvSpPr/>
          <p:nvPr userDrawn="1"/>
        </p:nvSpPr>
        <p:spPr>
          <a:xfrm>
            <a:off x="0" y="0"/>
            <a:ext cx="12192000" cy="1207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7" name="Rectangle 6"/>
          <p:cNvSpPr/>
          <p:nvPr userDrawn="1"/>
        </p:nvSpPr>
        <p:spPr>
          <a:xfrm>
            <a:off x="241905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1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1 May 2019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1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911" y="185515"/>
            <a:ext cx="2716800" cy="7627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D9A0D0-934A-4FC8-9196-BD7DE11D52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58654"/>
          <a:stretch/>
        </p:blipFill>
        <p:spPr>
          <a:xfrm>
            <a:off x="247814" y="3082345"/>
            <a:ext cx="11702281" cy="36218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BC473E-014A-442E-A8BB-4B7F18EDA0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62" y="355044"/>
            <a:ext cx="1678436" cy="42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2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7684EE5-E957-41CD-8F72-243A79BCD6BB}"/>
              </a:ext>
            </a:extLst>
          </p:cNvPr>
          <p:cNvSpPr/>
          <p:nvPr userDrawn="1"/>
        </p:nvSpPr>
        <p:spPr>
          <a:xfrm>
            <a:off x="0" y="0"/>
            <a:ext cx="12192000" cy="1207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7" name="Rectangle 6"/>
          <p:cNvSpPr/>
          <p:nvPr userDrawn="1"/>
        </p:nvSpPr>
        <p:spPr>
          <a:xfrm>
            <a:off x="241905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6AE3CF-7424-4E4F-978C-2CC94C6966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69367" y="3062173"/>
            <a:ext cx="7274984" cy="3610091"/>
          </a:xfrm>
          <a:solidFill>
            <a:schemeClr val="accent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1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1 May 2019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1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911" y="185515"/>
            <a:ext cx="2716800" cy="76273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246363" y="3062172"/>
            <a:ext cx="4425600" cy="36330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280A7F4-574A-4508-A3C9-ED567DE415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62" y="355044"/>
            <a:ext cx="1678436" cy="423673"/>
          </a:xfrm>
          <a:prstGeom prst="rect">
            <a:avLst/>
          </a:prstGeom>
        </p:spPr>
      </p:pic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8DAEC23-1BB8-482A-A08B-CC18AFED38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80018" y="5522573"/>
            <a:ext cx="4965700" cy="943262"/>
          </a:xfrm>
          <a:solidFill>
            <a:schemeClr val="accent1"/>
          </a:solidFill>
        </p:spPr>
        <p:txBody>
          <a:bodyPr lIns="91440" tIns="91440" rIns="91440" bIns="91440"/>
          <a:lstStyle>
            <a:lvl1pPr marL="114300" indent="-114300">
              <a:lnSpc>
                <a:spcPct val="120000"/>
              </a:lnSpc>
              <a:buFont typeface="Wingdings" panose="05000000000000000000" pitchFamily="2" charset="2"/>
              <a:buChar char="§"/>
              <a:defRPr/>
            </a:lvl1pPr>
            <a:lvl3pPr marL="114300" indent="-114300">
              <a:lnSpc>
                <a:spcPct val="120000"/>
              </a:lnSpc>
              <a:buFont typeface="Wingdings" panose="05000000000000000000" pitchFamily="2" charset="2"/>
              <a:buChar char="§"/>
              <a:defRPr/>
            </a:lvl3pPr>
          </a:lstStyle>
          <a:p>
            <a:pPr>
              <a:lnSpc>
                <a:spcPct val="120000"/>
              </a:lnSpc>
            </a:pPr>
            <a:r>
              <a:rPr lang="en-AU" sz="900" dirty="0">
                <a:solidFill>
                  <a:schemeClr val="bg1"/>
                </a:solidFill>
                <a:latin typeface="+mn-lt"/>
                <a:cs typeface="Arial"/>
              </a:rPr>
              <a:t>Note to user: Replace this image with your own.</a:t>
            </a:r>
          </a:p>
          <a:p>
            <a:pPr marL="114300" indent="-1143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AU" sz="900" dirty="0">
                <a:solidFill>
                  <a:schemeClr val="bg1"/>
                </a:solidFill>
                <a:latin typeface="+mn-lt"/>
                <a:cs typeface="Arial"/>
              </a:rPr>
              <a:t>Right click on this Placeholder box</a:t>
            </a:r>
          </a:p>
          <a:p>
            <a:pPr marL="114300" lvl="2" indent="-1143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AU" sz="900" dirty="0">
                <a:solidFill>
                  <a:schemeClr val="bg1"/>
                </a:solidFill>
                <a:latin typeface="+mn-lt"/>
                <a:cs typeface="Arial"/>
              </a:rPr>
              <a:t>Replace image</a:t>
            </a:r>
          </a:p>
          <a:p>
            <a:pPr marL="114300" lvl="2" indent="-1143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AU" sz="900" dirty="0">
                <a:solidFill>
                  <a:schemeClr val="bg1"/>
                </a:solidFill>
                <a:latin typeface="+mn-lt"/>
                <a:cs typeface="Arial"/>
              </a:rPr>
              <a:t>Select image and click ‘Resize image to fit in placeholder’)</a:t>
            </a:r>
          </a:p>
        </p:txBody>
      </p:sp>
    </p:spTree>
    <p:extLst>
      <p:ext uri="{BB962C8B-B14F-4D97-AF65-F5344CB8AC3E}">
        <p14:creationId xmlns:p14="http://schemas.microsoft.com/office/powerpoint/2010/main" val="119201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D2AFC-F9B6-4B5E-BA5D-7A1DEEA7C24A}"/>
              </a:ext>
            </a:extLst>
          </p:cNvPr>
          <p:cNvSpPr/>
          <p:nvPr userDrawn="1"/>
        </p:nvSpPr>
        <p:spPr>
          <a:xfrm>
            <a:off x="0" y="0"/>
            <a:ext cx="12192000" cy="1207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7" name="Rectangle 6"/>
          <p:cNvSpPr/>
          <p:nvPr userDrawn="1"/>
        </p:nvSpPr>
        <p:spPr>
          <a:xfrm>
            <a:off x="241905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662BC26-82A7-4491-8FF9-0226A95CF65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9184" y="1274763"/>
            <a:ext cx="11710747" cy="5397500"/>
          </a:xfrm>
          <a:solidFill>
            <a:schemeClr val="accent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747" y="185515"/>
            <a:ext cx="2716800" cy="76273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67861" y="1567893"/>
            <a:ext cx="8045752" cy="608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567862" y="2189986"/>
            <a:ext cx="6407151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CF41C6-4865-4B02-B5D8-9C5873B37A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62" y="355044"/>
            <a:ext cx="1678436" cy="42367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1F318B-EBCB-4834-81FE-96BC01156E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862" y="5522573"/>
            <a:ext cx="4965700" cy="943262"/>
          </a:xfrm>
          <a:solidFill>
            <a:schemeClr val="accent1"/>
          </a:solidFill>
        </p:spPr>
        <p:txBody>
          <a:bodyPr lIns="91440" tIns="91440" rIns="91440" bIns="91440"/>
          <a:lstStyle>
            <a:lvl1pPr marL="114300" indent="-114300">
              <a:lnSpc>
                <a:spcPct val="120000"/>
              </a:lnSpc>
              <a:buFont typeface="Wingdings" panose="05000000000000000000" pitchFamily="2" charset="2"/>
              <a:buChar char="§"/>
              <a:defRPr/>
            </a:lvl1pPr>
            <a:lvl3pPr marL="114300" indent="-114300">
              <a:lnSpc>
                <a:spcPct val="120000"/>
              </a:lnSpc>
              <a:buFont typeface="Wingdings" panose="05000000000000000000" pitchFamily="2" charset="2"/>
              <a:buChar char="§"/>
              <a:defRPr/>
            </a:lvl3pPr>
          </a:lstStyle>
          <a:p>
            <a:pPr>
              <a:lnSpc>
                <a:spcPct val="120000"/>
              </a:lnSpc>
            </a:pPr>
            <a:r>
              <a:rPr lang="en-AU" sz="900" dirty="0">
                <a:solidFill>
                  <a:schemeClr val="bg1"/>
                </a:solidFill>
                <a:latin typeface="+mn-lt"/>
                <a:cs typeface="Arial"/>
              </a:rPr>
              <a:t>Note to user: Replace this image with your own.</a:t>
            </a:r>
          </a:p>
          <a:p>
            <a:pPr marL="114300" indent="-1143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AU" sz="900" dirty="0">
                <a:solidFill>
                  <a:schemeClr val="bg1"/>
                </a:solidFill>
                <a:latin typeface="+mn-lt"/>
                <a:cs typeface="Arial"/>
              </a:rPr>
              <a:t>Right click on this Placeholder box</a:t>
            </a:r>
          </a:p>
          <a:p>
            <a:pPr marL="114300" lvl="2" indent="-1143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AU" sz="900" dirty="0">
                <a:solidFill>
                  <a:schemeClr val="bg1"/>
                </a:solidFill>
                <a:latin typeface="+mn-lt"/>
                <a:cs typeface="Arial"/>
              </a:rPr>
              <a:t>Replace image</a:t>
            </a:r>
          </a:p>
          <a:p>
            <a:pPr marL="114300" lvl="2" indent="-1143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AU" sz="900" dirty="0">
                <a:solidFill>
                  <a:schemeClr val="bg1"/>
                </a:solidFill>
                <a:latin typeface="+mn-lt"/>
                <a:cs typeface="Arial"/>
              </a:rPr>
              <a:t>Select image and click ‘Resize image to fit in placeholder’)</a:t>
            </a:r>
          </a:p>
        </p:txBody>
      </p:sp>
    </p:spTree>
    <p:extLst>
      <p:ext uri="{BB962C8B-B14F-4D97-AF65-F5344CB8AC3E}">
        <p14:creationId xmlns:p14="http://schemas.microsoft.com/office/powerpoint/2010/main" val="2641295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DE22C8-E6AD-4278-9181-7B1D2238E02D}"/>
              </a:ext>
            </a:extLst>
          </p:cNvPr>
          <p:cNvSpPr/>
          <p:nvPr userDrawn="1"/>
        </p:nvSpPr>
        <p:spPr>
          <a:xfrm>
            <a:off x="0" y="0"/>
            <a:ext cx="12192000" cy="1207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14" name="Rectangle 13"/>
          <p:cNvSpPr/>
          <p:nvPr userDrawn="1"/>
        </p:nvSpPr>
        <p:spPr>
          <a:xfrm>
            <a:off x="241904" y="181429"/>
            <a:ext cx="11710800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844719" y="6183276"/>
            <a:ext cx="577266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1 May 2019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 hasCustomPrompt="1"/>
          </p:nvPr>
        </p:nvSpPr>
        <p:spPr>
          <a:xfrm>
            <a:off x="5844719" y="2708920"/>
            <a:ext cx="5664629" cy="64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AU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5844719" y="3357564"/>
            <a:ext cx="5666316" cy="503237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911" y="185515"/>
            <a:ext cx="2716800" cy="7627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43EF02-D0DE-4694-8925-A3487BCF58C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719" y="355044"/>
            <a:ext cx="1678436" cy="4236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CE4F08-A1A6-4B79-918C-8ECD8A9C10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8" r="25471"/>
          <a:stretch/>
        </p:blipFill>
        <p:spPr>
          <a:xfrm>
            <a:off x="239295" y="181429"/>
            <a:ext cx="5270108" cy="653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8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800670"/>
            <a:ext cx="8542867" cy="40966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1" y="1620002"/>
            <a:ext cx="10800001" cy="45259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4600" y="6381331"/>
            <a:ext cx="5304664" cy="365125"/>
          </a:xfrm>
        </p:spPr>
        <p:txBody>
          <a:bodyPr/>
          <a:lstStyle>
            <a:lvl1pPr algn="l">
              <a:defRPr sz="1050"/>
            </a:lvl1pPr>
          </a:lstStyle>
          <a:p>
            <a:r>
              <a:rPr lang="en-AU" dirty="0"/>
              <a:t>OFFICE | FACULTY |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0822" y="6381331"/>
            <a:ext cx="420777" cy="365125"/>
          </a:xfrm>
        </p:spPr>
        <p:txBody>
          <a:bodyPr/>
          <a:lstStyle>
            <a:lvl1pPr>
              <a:defRPr sz="1050"/>
            </a:lvl1pPr>
          </a:lstStyle>
          <a:p>
            <a:fld id="{D9C42BCC-44E8-4F98-A8FE-EAF16D8C1E6E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1" y="1210336"/>
            <a:ext cx="8542867" cy="325166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017448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720001" y="1620000"/>
            <a:ext cx="10776675" cy="4524375"/>
          </a:xfrm>
        </p:spPr>
        <p:txBody>
          <a:bodyPr/>
          <a:lstStyle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6892" y="6381331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r>
              <a:rPr lang="en-AU"/>
              <a:t>OFFICE | FACULTY | DEPARTMENT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33827" y="6381331"/>
            <a:ext cx="375549" cy="365125"/>
          </a:xfrm>
        </p:spPr>
        <p:txBody>
          <a:bodyPr/>
          <a:lstStyle/>
          <a:p>
            <a:fld id="{D9C42BCC-44E8-4F98-A8FE-EAF16D8C1E6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2E17DD3-1234-4080-97F7-B043F151A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800670"/>
            <a:ext cx="8542867" cy="40966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CF968E3D-8964-4D0C-81E5-ECFE28F02D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1" y="1210336"/>
            <a:ext cx="8542867" cy="325166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98723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2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31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r>
              <a:rPr lang="en-AU"/>
              <a:t>OFFICE | FACULTY | DEPARTMENT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6317" y="6381331"/>
            <a:ext cx="429883" cy="365125"/>
          </a:xfrm>
        </p:spPr>
        <p:txBody>
          <a:bodyPr/>
          <a:lstStyle/>
          <a:p>
            <a:fld id="{D9C42BCC-44E8-4F98-A8FE-EAF16D8C1E6E}" type="slidenum">
              <a:rPr lang="en-AU" smtClean="0"/>
              <a:t>‹#›</a:t>
            </a:fld>
            <a:endParaRPr lang="en-AU"/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248400" y="1620002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8AD7E65-802D-4F18-A25B-1EB9B49E7C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800670"/>
            <a:ext cx="8542867" cy="40966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DE46466-CD1A-48A9-A0CE-00BE556700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1" y="1210336"/>
            <a:ext cx="8542867" cy="325166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404540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25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31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r>
              <a:rPr lang="en-AU"/>
              <a:t>OFFICE | FACULTY | DEPARTMENT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87818" y="6381331"/>
            <a:ext cx="431081" cy="365125"/>
          </a:xfrm>
        </p:spPr>
        <p:txBody>
          <a:bodyPr/>
          <a:lstStyle>
            <a:lvl1pPr>
              <a:defRPr sz="1050"/>
            </a:lvl1pPr>
          </a:lstStyle>
          <a:p>
            <a:fld id="{D9C42BCC-44E8-4F98-A8FE-EAF16D8C1E6E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20000" y="1620000"/>
            <a:ext cx="5220000" cy="45291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362400" y="1620000"/>
            <a:ext cx="5220000" cy="45291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AF86C0-7B61-4317-B2E4-249421D05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800670"/>
            <a:ext cx="8542867" cy="40966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24446E14-3109-42A2-9700-7C94F12F09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1" y="1210336"/>
            <a:ext cx="8542867" cy="325166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54726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31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r>
              <a:rPr lang="en-AU" dirty="0"/>
              <a:t>OFFICE | FACULTY |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72799" y="6381331"/>
            <a:ext cx="546100" cy="365125"/>
          </a:xfrm>
        </p:spPr>
        <p:txBody>
          <a:bodyPr/>
          <a:lstStyle/>
          <a:p>
            <a:fld id="{D9C42BCC-44E8-4F98-A8FE-EAF16D8C1E6E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B5DC82-B2A4-4F4A-B4D6-8BCF8521D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800670"/>
            <a:ext cx="8542867" cy="40966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2B365BC7-3ED5-4D4B-ACA5-9BC1068724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1" y="1210336"/>
            <a:ext cx="8542867" cy="325166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808700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31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r>
              <a:rPr lang="en-AU"/>
              <a:t>OFFICE | FACULTY | DEPARTMENT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0823" y="6381331"/>
            <a:ext cx="408077" cy="365125"/>
          </a:xfrm>
        </p:spPr>
        <p:txBody>
          <a:bodyPr/>
          <a:lstStyle/>
          <a:p>
            <a:fld id="{D9C42BCC-44E8-4F98-A8FE-EAF16D8C1E6E}" type="slidenum">
              <a:rPr lang="en-AU" smtClean="0"/>
              <a:t>‹#›</a:t>
            </a:fld>
            <a:endParaRPr lang="en-AU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20000" y="1620000"/>
            <a:ext cx="10752000" cy="4525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AB299D0-3FB3-47A0-8E8E-664904B8B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800670"/>
            <a:ext cx="8542867" cy="40966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480BE62-2A52-4482-8016-C8AE71B154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1" y="1210336"/>
            <a:ext cx="8542867" cy="325166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92518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3392" y="6385523"/>
            <a:ext cx="5472608" cy="365125"/>
          </a:xfrm>
        </p:spPr>
        <p:txBody>
          <a:bodyPr/>
          <a:lstStyle/>
          <a:p>
            <a:r>
              <a:rPr lang="en-AU"/>
              <a:t>OFFICE | FACULTY | DEPARTMENT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30309" y="6385523"/>
            <a:ext cx="483081" cy="361008"/>
          </a:xfrm>
        </p:spPr>
        <p:txBody>
          <a:bodyPr/>
          <a:lstStyle/>
          <a:p>
            <a:fld id="{D9C42BCC-44E8-4F98-A8FE-EAF16D8C1E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329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10001277" y="571501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859484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1" y="854535"/>
            <a:ext cx="8458276" cy="3322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1" y="1620002"/>
            <a:ext cx="10800001" cy="4525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0001" y="6309323"/>
            <a:ext cx="540067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U"/>
              <a:t>OFFICE | FACULTY | DEPARTMENT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7305" y="6309323"/>
            <a:ext cx="48936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42BCC-44E8-4F98-A8FE-EAF16D8C1E6E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026" name="Picture 2"/>
          <p:cNvPicPr preferRelativeResize="0"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519248"/>
            <a:ext cx="10800000" cy="12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508" y="141749"/>
            <a:ext cx="2716800" cy="7627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B12B2D-EA4F-4A19-9D48-D0DCDB7D26A3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1" y="294662"/>
            <a:ext cx="1678436" cy="42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62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67" r:id="rId3"/>
    <p:sldLayoutId id="2147483651" r:id="rId4"/>
    <p:sldLayoutId id="2147483650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55" r:id="rId11"/>
    <p:sldLayoutId id="2147483665" r:id="rId12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4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958467" y="1680197"/>
            <a:ext cx="10554160" cy="1748803"/>
          </a:xfrm>
        </p:spPr>
        <p:txBody>
          <a:bodyPr/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Cordia New" panose="020B0304020202020204" pitchFamily="34" charset="-34"/>
              </a:rPr>
              <a:t>Mandatory Climate-related Financial Disclosure and Market Reaction</a:t>
            </a:r>
            <a:endParaRPr lang="en-US" sz="3600" dirty="0">
              <a:solidFill>
                <a:srgbClr val="000099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16227" y="1880861"/>
            <a:ext cx="8305800" cy="4353347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0"/>
              </a:spcBef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2100" dirty="0" err="1">
                <a:latin typeface="Times New Roman" pitchFamily="18" charset="0"/>
                <a:cs typeface="Times New Roman" pitchFamily="18" charset="0"/>
              </a:rPr>
              <a:t>Discussed by Jianlei Han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Macquarie University</a:t>
            </a:r>
          </a:p>
          <a:p>
            <a:pPr algn="ctr">
              <a:spcBef>
                <a:spcPts val="0"/>
              </a:spcBef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0"/>
              </a:spcBef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i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rgbClr val="000099"/>
              </a:buClr>
              <a:buFont typeface="Wingdings" pitchFamily="2" charset="2"/>
              <a:buChar char="q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86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/>
              <a:t>Summary</a:t>
            </a:r>
            <a:endParaRPr lang="en-AU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20001" y="1697119"/>
            <a:ext cx="10715378" cy="4525963"/>
          </a:xfrm>
        </p:spPr>
        <p:txBody>
          <a:bodyPr>
            <a:normAutofit/>
          </a:bodyPr>
          <a:lstStyle/>
          <a:p>
            <a:r>
              <a:rPr sz="2000" dirty="0">
                <a:latin typeface="Constantia"/>
              </a:rPr>
              <a:t>Australia: legislate mandatory climate disclosure fully aligned with ISSB IFRS S2 (passed Sep 2024).</a:t>
            </a:r>
          </a:p>
          <a:p>
            <a:r>
              <a:rPr sz="2000" dirty="0">
                <a:latin typeface="Constantia"/>
              </a:rPr>
              <a:t>Event study of 337 affected ASX firms around 6 legislative events (Dec 2022 - Sep 2024)</a:t>
            </a:r>
            <a:r>
              <a:rPr lang="en-AU" sz="2000" dirty="0">
                <a:latin typeface="Constantia"/>
              </a:rPr>
              <a:t>.</a:t>
            </a:r>
            <a:endParaRPr sz="2000" dirty="0">
              <a:latin typeface="Constantia"/>
            </a:endParaRPr>
          </a:p>
          <a:p>
            <a:pPr lvl="1"/>
            <a:r>
              <a:rPr sz="2000" dirty="0">
                <a:latin typeface="Constantia"/>
              </a:rPr>
              <a:t>Returns + liquidity (</a:t>
            </a:r>
            <a:r>
              <a:rPr sz="2000" dirty="0" err="1">
                <a:latin typeface="Constantia"/>
              </a:rPr>
              <a:t>Amihud</a:t>
            </a:r>
            <a:r>
              <a:rPr sz="2000" dirty="0">
                <a:latin typeface="Constantia"/>
              </a:rPr>
              <a:t>) + </a:t>
            </a:r>
            <a:r>
              <a:rPr sz="2000" dirty="0" err="1">
                <a:latin typeface="Constantia"/>
              </a:rPr>
              <a:t>volatilit</a:t>
            </a:r>
            <a:r>
              <a:rPr lang="en-AU" sz="2000" dirty="0">
                <a:latin typeface="Constantia"/>
              </a:rPr>
              <a:t>y</a:t>
            </a:r>
            <a:r>
              <a:rPr sz="2000" dirty="0">
                <a:latin typeface="Constantia"/>
              </a:rPr>
              <a:t>.</a:t>
            </a:r>
          </a:p>
          <a:p>
            <a:r>
              <a:rPr sz="2000" b="1" dirty="0">
                <a:latin typeface="Constantia"/>
              </a:rPr>
              <a:t>Findings:</a:t>
            </a:r>
          </a:p>
          <a:p>
            <a:pPr lvl="1"/>
            <a:r>
              <a:rPr sz="2000" dirty="0">
                <a:latin typeface="Constantia"/>
              </a:rPr>
              <a:t>Early events: significant negative abnormal returns (-2.1% consultation launch; -0.64% consultation report). Later events mostly muted.</a:t>
            </a:r>
          </a:p>
          <a:p>
            <a:pPr lvl="1"/>
            <a:r>
              <a:rPr sz="2000" dirty="0">
                <a:latin typeface="Constantia"/>
              </a:rPr>
              <a:t>Group 1 firms (largest, earliest compliers) are hit hardest.</a:t>
            </a:r>
          </a:p>
          <a:p>
            <a:pPr lvl="1"/>
            <a:r>
              <a:rPr sz="2000" dirty="0">
                <a:latin typeface="Constantia"/>
              </a:rPr>
              <a:t>Volatility rises around key events; liquidity moves are mixed.</a:t>
            </a:r>
          </a:p>
          <a:p>
            <a:pPr lvl="1"/>
            <a:r>
              <a:rPr sz="2000" dirty="0">
                <a:latin typeface="Constantia"/>
              </a:rPr>
              <a:t>Cross-section: firms with higher carbon emission intensity suffer more negative returns; ESG scores are insignificant.</a:t>
            </a:r>
          </a:p>
          <a:p>
            <a:r>
              <a:rPr sz="2000" dirty="0">
                <a:latin typeface="Constantia"/>
              </a:rPr>
              <a:t>Interpretation: the market perceives costs to outweigh benefits, especially for high-emission firms.</a:t>
            </a:r>
          </a:p>
        </p:txBody>
      </p:sp>
    </p:spTree>
    <p:extLst>
      <p:ext uri="{BB962C8B-B14F-4D97-AF65-F5344CB8AC3E}">
        <p14:creationId xmlns:p14="http://schemas.microsoft.com/office/powerpoint/2010/main" val="59540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/>
              <a:t>Comments</a:t>
            </a:r>
            <a:endParaRPr lang="en-AU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20000" y="1697119"/>
            <a:ext cx="10812197" cy="4525963"/>
          </a:xfrm>
        </p:spPr>
        <p:txBody>
          <a:bodyPr>
            <a:normAutofit/>
          </a:bodyPr>
          <a:lstStyle/>
          <a:p>
            <a:r>
              <a:rPr sz="2000" dirty="0">
                <a:latin typeface="Constantia"/>
              </a:rPr>
              <a:t>Very timely paper! The study is important.</a:t>
            </a:r>
          </a:p>
          <a:p>
            <a:r>
              <a:rPr sz="2000" dirty="0">
                <a:latin typeface="Constantia"/>
              </a:rPr>
              <a:t>The findings speak directly to regulators in the UK, NZ, Canada and beyond. The contribution is obvious.</a:t>
            </a:r>
          </a:p>
          <a:p>
            <a:r>
              <a:rPr sz="2000" dirty="0">
                <a:latin typeface="Constantia"/>
              </a:rPr>
              <a:t>I also like that the paper looks beyond returns: liquidity and volatility tell us how the policy reshapes the information environment.</a:t>
            </a:r>
          </a:p>
        </p:txBody>
      </p:sp>
    </p:spTree>
    <p:extLst>
      <p:ext uri="{BB962C8B-B14F-4D97-AF65-F5344CB8AC3E}">
        <p14:creationId xmlns:p14="http://schemas.microsoft.com/office/powerpoint/2010/main" val="2835304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/>
              <a:t>Mandatory climate disclosure</a:t>
            </a:r>
            <a:endParaRPr lang="en-AU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20001" y="1697119"/>
            <a:ext cx="10715378" cy="4525963"/>
          </a:xfrm>
        </p:spPr>
        <p:txBody>
          <a:bodyPr>
            <a:normAutofit/>
          </a:bodyPr>
          <a:lstStyle/>
          <a:p>
            <a:r>
              <a:rPr sz="2000" dirty="0">
                <a:latin typeface="Constantia"/>
              </a:rPr>
              <a:t>Mandatory climate disclosure itself is not new. </a:t>
            </a:r>
          </a:p>
          <a:p>
            <a:pPr lvl="1"/>
            <a:r>
              <a:rPr lang="en-AU" sz="2000" dirty="0">
                <a:latin typeface="Constantia"/>
              </a:rPr>
              <a:t>Mandatory ESG disclosure around the world (Krueger et al. 2024)</a:t>
            </a:r>
          </a:p>
          <a:p>
            <a:pPr lvl="1"/>
            <a:r>
              <a:rPr sz="2000" dirty="0">
                <a:latin typeface="Constantia"/>
              </a:rPr>
              <a:t>UK: carbon reporting mandatory since 2013, TCFD-aligned reporting for large firms from 2022. No significant market reaction (</a:t>
            </a:r>
            <a:r>
              <a:rPr sz="2000" dirty="0" err="1">
                <a:latin typeface="Constantia"/>
              </a:rPr>
              <a:t>Florackis</a:t>
            </a:r>
            <a:r>
              <a:rPr sz="2000" dirty="0">
                <a:latin typeface="Constantia"/>
              </a:rPr>
              <a:t> et al., 2025).</a:t>
            </a:r>
          </a:p>
          <a:p>
            <a:pPr lvl="1"/>
            <a:r>
              <a:rPr sz="2000" dirty="0">
                <a:latin typeface="Constantia"/>
              </a:rPr>
              <a:t>EU: NFRD 2014 required ESG disclosure without unified metrics. Negative reactions of around -0.8% (Grewal et al., 2019).</a:t>
            </a:r>
          </a:p>
          <a:p>
            <a:pPr lvl="1"/>
            <a:r>
              <a:rPr sz="2000" dirty="0">
                <a:latin typeface="Constantia"/>
              </a:rPr>
              <a:t>US: SEC proposed climate rules in 2022, substantially weakened by 2024.</a:t>
            </a:r>
          </a:p>
          <a:p>
            <a:r>
              <a:rPr lang="en-AU" sz="2000" dirty="0">
                <a:latin typeface="Constantia"/>
              </a:rPr>
              <a:t>Australia is “</a:t>
            </a:r>
            <a:r>
              <a:rPr sz="2000" dirty="0">
                <a:latin typeface="Constantia"/>
              </a:rPr>
              <a:t>the first to legislate an IFRS S2-aligned regime”. It would be better to clarify at the beginning, </a:t>
            </a:r>
            <a:r>
              <a:rPr lang="en-AU" sz="2000" dirty="0">
                <a:latin typeface="Constantia"/>
              </a:rPr>
              <a:t>what is the uniqueness of IFRS S2-aligned? It could strength the contribution.</a:t>
            </a:r>
            <a:endParaRPr sz="2000" dirty="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111693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952E-31EE-D101-5B4A-6945A73F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18B51-3ECF-81BE-8D9B-DA8764E54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000" dirty="0">
                <a:latin typeface="Constantia"/>
              </a:rPr>
              <a:t>The study focuses on 337 affected companies</a:t>
            </a:r>
            <a:r>
              <a:rPr sz="2000" dirty="0">
                <a:latin typeface="Constantia"/>
              </a:rPr>
              <a:t>.</a:t>
            </a:r>
            <a:endParaRPr lang="en-AU" sz="2000" dirty="0">
              <a:latin typeface="Constantia"/>
            </a:endParaRPr>
          </a:p>
          <a:p>
            <a:r>
              <a:rPr lang="en-AU" sz="2000" dirty="0">
                <a:latin typeface="Constantia"/>
              </a:rPr>
              <a:t>What about other unaffected companies? Why the 337 affected but others are unaffected?</a:t>
            </a:r>
          </a:p>
          <a:p>
            <a:r>
              <a:rPr lang="en-AU" sz="2000" dirty="0">
                <a:latin typeface="Constantia"/>
              </a:rPr>
              <a:t>Could be a </a:t>
            </a:r>
            <a:r>
              <a:rPr lang="en-AU" sz="2000" dirty="0" err="1">
                <a:latin typeface="Constantia"/>
              </a:rPr>
              <a:t>DiD</a:t>
            </a:r>
            <a:r>
              <a:rPr lang="en-AU" sz="2000" dirty="0">
                <a:latin typeface="Constantia"/>
              </a:rPr>
              <a:t> design if there is a control group of unaffected companies.</a:t>
            </a:r>
          </a:p>
          <a:p>
            <a:pPr marL="0" indent="0">
              <a:buNone/>
            </a:pPr>
            <a:endParaRPr lang="en-AU" sz="2000" dirty="0">
              <a:latin typeface="Constantia"/>
            </a:endParaRPr>
          </a:p>
          <a:p>
            <a:endParaRPr sz="2000" dirty="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2382704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A0E5-25D8-BD13-E7EE-77071AAF8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201BF-4824-8192-755E-38C891914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onstantia"/>
              </a:rPr>
              <a:t>The firms are divided into 3 groups. It seems the three groups are required to comply at different time?</a:t>
            </a:r>
          </a:p>
          <a:p>
            <a:endParaRPr lang="en-US" sz="2000" dirty="0">
              <a:latin typeface="Constantia"/>
            </a:endParaRPr>
          </a:p>
          <a:p>
            <a:r>
              <a:rPr lang="en-US" sz="2000" dirty="0">
                <a:latin typeface="Constantia"/>
              </a:rPr>
              <a:t>But why the event windows are same? Better to clarify and introduce how the firms are required to comply at different stages at the beginning. It helps readers to understand.</a:t>
            </a:r>
          </a:p>
          <a:p>
            <a:endParaRPr lang="en-US" sz="2000" dirty="0">
              <a:latin typeface="Constantia"/>
            </a:endParaRPr>
          </a:p>
          <a:p>
            <a:r>
              <a:rPr lang="en-US" sz="2000" dirty="0">
                <a:latin typeface="Constantia"/>
              </a:rPr>
              <a:t>You may take advantage of the staggered adoptions.</a:t>
            </a:r>
          </a:p>
        </p:txBody>
      </p:sp>
    </p:spTree>
    <p:extLst>
      <p:ext uri="{BB962C8B-B14F-4D97-AF65-F5344CB8AC3E}">
        <p14:creationId xmlns:p14="http://schemas.microsoft.com/office/powerpoint/2010/main" val="2950476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5BD2-5ED3-BEEB-46EB-D99EDAB1F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Costs or information?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9AA6F-3D0E-D129-54F5-DC6BB8160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Constantia"/>
              </a:rPr>
              <a:t>The paper reads the negative returns as compliance costs outweighing benefits.</a:t>
            </a:r>
          </a:p>
          <a:p>
            <a:pPr lvl="1"/>
            <a:r>
              <a:rPr sz="2000" dirty="0">
                <a:latin typeface="Constantia"/>
              </a:rPr>
              <a:t>But -2.1% in one day for a consultation paper is big! EU directive events: around -0.8% (Grewal et al., 2019); UK: insignificant (</a:t>
            </a:r>
            <a:r>
              <a:rPr sz="2000" dirty="0" err="1">
                <a:latin typeface="Constantia"/>
              </a:rPr>
              <a:t>Florackis</a:t>
            </a:r>
            <a:r>
              <a:rPr sz="2000" dirty="0">
                <a:latin typeface="Constantia"/>
              </a:rPr>
              <a:t> et al., 2025).</a:t>
            </a:r>
          </a:p>
          <a:p>
            <a:r>
              <a:rPr sz="2000" b="1" dirty="0">
                <a:latin typeface="Constantia"/>
              </a:rPr>
              <a:t>Two channels can both generate negative returns:</a:t>
            </a:r>
          </a:p>
          <a:p>
            <a:pPr lvl="1"/>
            <a:r>
              <a:rPr sz="2000" dirty="0">
                <a:latin typeface="Constantia"/>
              </a:rPr>
              <a:t>Cost channel: reporting systems, assurance, Scope 3 data collection. compliance costs.</a:t>
            </a:r>
          </a:p>
          <a:p>
            <a:pPr lvl="1"/>
            <a:r>
              <a:rPr sz="2000" dirty="0">
                <a:latin typeface="Constantia"/>
              </a:rPr>
              <a:t>Information channel: disclosure will reveal </a:t>
            </a:r>
            <a:r>
              <a:rPr lang="en-AU" sz="2000" dirty="0">
                <a:latin typeface="Constantia"/>
              </a:rPr>
              <a:t>cashflow risk</a:t>
            </a:r>
            <a:r>
              <a:rPr sz="2000" dirty="0">
                <a:latin typeface="Constantia"/>
              </a:rPr>
              <a:t> that investors could not see before.</a:t>
            </a:r>
          </a:p>
          <a:p>
            <a:r>
              <a:rPr sz="2000" dirty="0">
                <a:latin typeface="Constantia"/>
              </a:rPr>
              <a:t>The carbon-intensity result is consistent with both channels, </a:t>
            </a:r>
            <a:r>
              <a:rPr lang="en-AU" sz="2000" dirty="0">
                <a:latin typeface="Constantia"/>
              </a:rPr>
              <a:t>so it cannot settle the question.</a:t>
            </a:r>
            <a:endParaRPr sz="2000" dirty="0">
              <a:latin typeface="Constantia"/>
            </a:endParaRPr>
          </a:p>
          <a:p>
            <a:r>
              <a:rPr sz="2000" dirty="0">
                <a:latin typeface="Constantia"/>
              </a:rPr>
              <a:t>Suggestion: exploit voluntary disclosers. Firms already reporting face little extra compliance cost. If they react just as negatively, the information channel dominates.</a:t>
            </a:r>
          </a:p>
        </p:txBody>
      </p:sp>
    </p:spTree>
    <p:extLst>
      <p:ext uri="{BB962C8B-B14F-4D97-AF65-F5344CB8AC3E}">
        <p14:creationId xmlns:p14="http://schemas.microsoft.com/office/powerpoint/2010/main" val="1363003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1660-7785-F912-CD3C-1AE23D231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Minor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4790C-24C7-1B2D-B1C8-6BF528F82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 dirty="0">
                <a:latin typeface="Constantia"/>
              </a:rPr>
              <a:t>Abstract vs conclusion: the abstract says volatility increased, the conclusion says “liquidity increased while volatility declined”. </a:t>
            </a:r>
            <a:endParaRPr lang="en-AU" sz="2000" b="1" dirty="0">
              <a:latin typeface="Constantia"/>
            </a:endParaRPr>
          </a:p>
          <a:p>
            <a:r>
              <a:rPr sz="2000" dirty="0">
                <a:latin typeface="Constantia"/>
              </a:rPr>
              <a:t>Event dates differ across sections: Dec 12 vs Dec 22, 2022; Jun 24 vs Jun 27, 2023; Mar 27 vs May 27, 2024; Sep 9 vs Sep 17, 2024.</a:t>
            </a:r>
          </a:p>
          <a:p>
            <a:r>
              <a:rPr sz="2000" dirty="0">
                <a:latin typeface="Constantia"/>
              </a:rPr>
              <a:t>Two tables are both numbered “Table 7”; the estimation window appears as [-120, -10] and [-120, 10] in different places.</a:t>
            </a:r>
          </a:p>
          <a:p>
            <a:r>
              <a:rPr sz="2000" dirty="0" err="1">
                <a:latin typeface="Constantia"/>
              </a:rPr>
              <a:t>Amihud</a:t>
            </a:r>
            <a:r>
              <a:rPr sz="2000" dirty="0">
                <a:latin typeface="Constantia"/>
              </a:rPr>
              <a:t> measures illiquidity, so “liquidity increases by 0.17%” needs sign care.</a:t>
            </a:r>
          </a:p>
          <a:p>
            <a:r>
              <a:rPr sz="2000" dirty="0">
                <a:latin typeface="Constantia"/>
              </a:rPr>
              <a:t>Returns are standardized to mean 0 and </a:t>
            </a:r>
            <a:r>
              <a:rPr sz="2000" dirty="0" err="1">
                <a:latin typeface="Constantia"/>
              </a:rPr>
              <a:t>sd</a:t>
            </a:r>
            <a:r>
              <a:rPr sz="2000" dirty="0">
                <a:latin typeface="Constantia"/>
              </a:rPr>
              <a:t> 1. Can the event coefficient still be read as a percentage price change? Clarify the units.</a:t>
            </a:r>
          </a:p>
        </p:txBody>
      </p:sp>
    </p:spTree>
    <p:extLst>
      <p:ext uri="{BB962C8B-B14F-4D97-AF65-F5344CB8AC3E}">
        <p14:creationId xmlns:p14="http://schemas.microsoft.com/office/powerpoint/2010/main" val="48222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1660-7785-F912-CD3C-1AE23D231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4790C-24C7-1B2D-B1C8-6BF528F82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Constantia"/>
              </a:rPr>
              <a:t>Overall, a very timely and policy-relevant paper!</a:t>
            </a:r>
          </a:p>
          <a:p>
            <a:r>
              <a:rPr sz="2000" dirty="0">
                <a:latin typeface="Constantia"/>
              </a:rPr>
              <a:t>Really enjoy reading and wish a </a:t>
            </a:r>
            <a:r>
              <a:rPr lang="en-AU" sz="2000" dirty="0">
                <a:latin typeface="Constantia"/>
              </a:rPr>
              <a:t>better version in the future.</a:t>
            </a:r>
            <a:endParaRPr sz="2000" dirty="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4183353419"/>
      </p:ext>
    </p:extLst>
  </p:cSld>
  <p:clrMapOvr>
    <a:masterClrMapping/>
  </p:clrMapOvr>
</p:sld>
</file>

<file path=ppt/theme/theme1.xml><?xml version="1.0" encoding="utf-8"?>
<a:theme xmlns:a="http://schemas.openxmlformats.org/drawingml/2006/main" name="MAC UNI BASIC_Round 1 Draft for feedback">
  <a:themeElements>
    <a:clrScheme name="MQU Colours">
      <a:dk1>
        <a:sysClr val="windowText" lastClr="000000"/>
      </a:dk1>
      <a:lt1>
        <a:sysClr val="window" lastClr="FFFFFF"/>
      </a:lt1>
      <a:dk2>
        <a:srgbClr val="D6D2C4"/>
      </a:dk2>
      <a:lt2>
        <a:srgbClr val="E6E4DC"/>
      </a:lt2>
      <a:accent1>
        <a:srgbClr val="A6192E"/>
      </a:accent1>
      <a:accent2>
        <a:srgbClr val="76232F"/>
      </a:accent2>
      <a:accent3>
        <a:srgbClr val="D6001C"/>
      </a:accent3>
      <a:accent4>
        <a:srgbClr val="C6007E"/>
      </a:accent4>
      <a:accent5>
        <a:srgbClr val="80225F"/>
      </a:accent5>
      <a:accent6>
        <a:srgbClr val="373A36"/>
      </a:accent6>
      <a:hlink>
        <a:srgbClr val="A6192E"/>
      </a:hlink>
      <a:folHlink>
        <a:srgbClr val="954F72"/>
      </a:folHlink>
    </a:clrScheme>
    <a:fontScheme name="MQ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BS Standard Template" id="{7C25D12C-0431-4FA0-ACAA-A667B3888E6A}" vid="{3DE0090B-AEF3-48A5-9484-2024EB1D44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76D820AB314C438034B54AF8C7F993" ma:contentTypeVersion="4" ma:contentTypeDescription="Create a new document." ma:contentTypeScope="" ma:versionID="aa2bbac7010019faa58b840ad412448c">
  <xsd:schema xmlns:xsd="http://www.w3.org/2001/XMLSchema" xmlns:xs="http://www.w3.org/2001/XMLSchema" xmlns:p="http://schemas.microsoft.com/office/2006/metadata/properties" xmlns:ns2="f6ed9c91-6ee8-481d-9a32-c3a88b94d193" xmlns:ns3="e6bd90fc-019c-4bb1-8ebe-509895f828a0" targetNamespace="http://schemas.microsoft.com/office/2006/metadata/properties" ma:root="true" ma:fieldsID="af1f0b05bccb999a8a83b4af981b6304" ns2:_="" ns3:_="">
    <xsd:import namespace="f6ed9c91-6ee8-481d-9a32-c3a88b94d193"/>
    <xsd:import namespace="e6bd90fc-019c-4bb1-8ebe-509895f828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ed9c91-6ee8-481d-9a32-c3a88b94d1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bd90fc-019c-4bb1-8ebe-509895f828a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30FA16-F977-46BA-98B1-016A330BF1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ed9c91-6ee8-481d-9a32-c3a88b94d193"/>
    <ds:schemaRef ds:uri="e6bd90fc-019c-4bb1-8ebe-509895f828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F04863-5E72-4218-B5DF-B0C8B20FC72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0AD66AB-85A3-4204-86CA-D11FE6FA245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MAC UNI BASIC_Round 1 Draft for feedback</Template>
  <TotalTime>24721</TotalTime>
  <Words>720</Words>
  <Application>Microsoft Macintosh PowerPoint</Application>
  <PresentationFormat>Widescreen</PresentationFormat>
  <Paragraphs>60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楷体</vt:lpstr>
      <vt:lpstr>ＭＳ Ｐゴシック</vt:lpstr>
      <vt:lpstr>Arial</vt:lpstr>
      <vt:lpstr>Calibri</vt:lpstr>
      <vt:lpstr>Constantia</vt:lpstr>
      <vt:lpstr>Georgia</vt:lpstr>
      <vt:lpstr>Times New Roman</vt:lpstr>
      <vt:lpstr>Wingdings</vt:lpstr>
      <vt:lpstr>MAC UNI BASIC_Round 1 Draft for feedback</vt:lpstr>
      <vt:lpstr>Mandatory Climate-related Financial Disclosure and Market Reaction</vt:lpstr>
      <vt:lpstr>Summary</vt:lpstr>
      <vt:lpstr>Comments</vt:lpstr>
      <vt:lpstr>Mandatory climate disclosure</vt:lpstr>
      <vt:lpstr>Identification</vt:lpstr>
      <vt:lpstr>Results</vt:lpstr>
      <vt:lpstr>Costs or information?</vt:lpstr>
      <vt:lpstr>Minor points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Jenny Page</dc:creator>
  <cp:lastModifiedBy>Jianlei Han</cp:lastModifiedBy>
  <cp:revision>458</cp:revision>
  <cp:lastPrinted>2016-11-10T06:26:38Z</cp:lastPrinted>
  <dcterms:created xsi:type="dcterms:W3CDTF">2019-04-29T05:16:11Z</dcterms:created>
  <dcterms:modified xsi:type="dcterms:W3CDTF">2026-08-19T23:40:58Z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0x0101006276D820AB314C438034B54AF8C7F993</vt:lpwstr>
  </property>
</Properties>
</file>